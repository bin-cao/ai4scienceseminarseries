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38"/>
    <p:restoredTop sz="94678"/>
  </p:normalViewPr>
  <p:slideViewPr>
    <p:cSldViewPr snapToGrid="0" showGuides="1">
      <p:cViewPr varScale="1">
        <p:scale>
          <a:sx n="150" d="100"/>
          <a:sy n="150" d="100"/>
        </p:scale>
        <p:origin x="43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321D376-2829-46E6-977B-DE7DB36D6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CCEC815-4080-40E9-B5DB-46037C72F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9800E878-82E4-40AB-A445-DFF8B4DC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CD080E-0095-4128-920B-66742F3A6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DD665EC-084B-4973-82C2-4DA037A59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EBCAFCC-2A8B-4CA8-93CC-A148358AD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2048A9-5498-43BE-AE07-7E3480824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8B56159-D6B1-41FD-B2D9-CEA86E2D2BE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40027FF-1860-4F33-9961-023362C9F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269EA65-F0FC-4A57-930B-5D785280E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1.png"/><Relationship Id="rId7" Type="http://schemas.openxmlformats.org/officeDocument/2006/relationships/hyperlink" Target="https://ai4s.hk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1AEE506C-F595-4640-97F1-A68E18F5A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381000"/>
            <a:ext cx="400050" cy="400050"/>
          </a:xfrm>
          <a:prstGeom prst="rect">
            <a:avLst/>
          </a:prstGeom>
        </p:spPr>
      </p:pic>
      <p:sp>
        <p:nvSpPr>
          <p:cNvPr id="2" name="Forum name">
            <a:extLst>
              <a:ext uri="{FF2B5EF4-FFF2-40B4-BE49-F238E27FC236}">
                <a16:creationId xmlns:a16="http://schemas.microsoft.com/office/drawing/2014/main" id="{841BACBB-01E9-4CA5-8243-0EF6B3C1460F}"/>
              </a:ext>
            </a:extLst>
          </p:cNvPr>
          <p:cNvSpPr>
            <a:spLocks noGrp="1"/>
          </p:cNvSpPr>
          <p:nvPr/>
        </p:nvSpPr>
        <p:spPr>
          <a:xfrm>
            <a:off x="1123950" y="371475"/>
            <a:ext cx="60960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UNPACKED SEMINAR</a:t>
            </a:r>
          </a:p>
        </p:txBody>
      </p:sp>
      <p:sp>
        <p:nvSpPr>
          <p:cNvPr id="3" name="Forum purpose">
            <a:extLst>
              <a:ext uri="{FF2B5EF4-FFF2-40B4-BE49-F238E27FC236}">
                <a16:creationId xmlns:a16="http://schemas.microsoft.com/office/drawing/2014/main" id="{C612E403-DE46-427F-BFBD-2DB147C88D29}"/>
              </a:ext>
            </a:extLst>
          </p:cNvPr>
          <p:cNvSpPr>
            <a:spLocks noGrp="1"/>
          </p:cNvSpPr>
          <p:nvPr/>
        </p:nvSpPr>
        <p:spPr>
          <a:xfrm>
            <a:off x="1123950" y="723900"/>
            <a:ext cx="623887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5E"/>
                </a:solidFill>
                <a:latin typeface="Arial"/>
                <a:ea typeface="Arial"/>
                <a:cs typeface="Arial"/>
              </a:rPr>
              <a:t>An AI for Science forum for young researchers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1FD390E4-82C8-4D51-BD8C-8EA40B030C61}"/>
              </a:ext>
            </a:extLst>
          </p:cNvPr>
          <p:cNvSpPr>
            <a:spLocks noGrp="1"/>
          </p:cNvSpPr>
          <p:nvPr/>
        </p:nvSpPr>
        <p:spPr>
          <a:xfrm>
            <a:off x="8286750" y="40005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6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6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24 OCT 2026</a:t>
            </a:r>
          </a:p>
        </p:txBody>
      </p:sp>
      <p:sp>
        <p:nvSpPr>
          <p:cNvPr id="5" name="Time and language">
            <a:extLst>
              <a:ext uri="{FF2B5EF4-FFF2-40B4-BE49-F238E27FC236}">
                <a16:creationId xmlns:a16="http://schemas.microsoft.com/office/drawing/2014/main" id="{FBDEC5DE-3371-4ED2-8C74-FC6CF2B20E65}"/>
              </a:ext>
            </a:extLst>
          </p:cNvPr>
          <p:cNvSpPr>
            <a:spLocks noGrp="1"/>
          </p:cNvSpPr>
          <p:nvPr/>
        </p:nvSpPr>
        <p:spPr>
          <a:xfrm>
            <a:off x="8001000" y="742950"/>
            <a:ext cx="3619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5E"/>
                </a:solidFill>
                <a:latin typeface="Arial"/>
                <a:ea typeface="Arial"/>
                <a:cs typeface="Arial"/>
              </a:rPr>
              <a:t>15:00 Beijing (UTC+8) / Talk in Chinese</a:t>
            </a:r>
          </a:p>
        </p:txBody>
      </p:sp>
      <p:sp>
        <p:nvSpPr>
          <p:cNvPr id="6" name="Header divider">
            <a:extLst>
              <a:ext uri="{FF2B5EF4-FFF2-40B4-BE49-F238E27FC236}">
                <a16:creationId xmlns:a16="http://schemas.microsoft.com/office/drawing/2014/main" id="{BCDAB386-0888-4261-A548-12F02195589B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0"/>
          </a:xfrm>
          <a:prstGeom prst="line">
            <a:avLst/>
          </a:prstGeom>
          <a:noFill/>
          <a:ln w="9525">
            <a:solidFill>
              <a:srgbClr val="CDD4CA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7" name="Session label">
            <a:extLst>
              <a:ext uri="{FF2B5EF4-FFF2-40B4-BE49-F238E27FC236}">
                <a16:creationId xmlns:a16="http://schemas.microsoft.com/office/drawing/2014/main" id="{0ACDDCD8-64A3-475A-863F-7F0C2617C189}"/>
              </a:ext>
            </a:extLst>
          </p:cNvPr>
          <p:cNvSpPr>
            <a:spLocks noGrp="1"/>
          </p:cNvSpPr>
          <p:nvPr/>
        </p:nvSpPr>
        <p:spPr>
          <a:xfrm>
            <a:off x="571500" y="1381125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1">
                <a:solidFill>
                  <a:srgbClr val="9C63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1">
                <a:solidFill>
                  <a:srgbClr val="9C63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634A"/>
                </a:solidFill>
                <a:latin typeface="Arial"/>
                <a:ea typeface="Arial"/>
                <a:cs typeface="Arial"/>
              </a:rPr>
              <a:t>SESSION 001</a:t>
            </a:r>
          </a:p>
        </p:txBody>
      </p:sp>
      <p:sp>
        <p:nvSpPr>
          <p:cNvPr id="8" name="Talk title line 1">
            <a:extLst>
              <a:ext uri="{FF2B5EF4-FFF2-40B4-BE49-F238E27FC236}">
                <a16:creationId xmlns:a16="http://schemas.microsoft.com/office/drawing/2014/main" id="{171D7386-F0C5-4B51-94F6-4E7DA573480B}"/>
              </a:ext>
            </a:extLst>
          </p:cNvPr>
          <p:cNvSpPr>
            <a:spLocks noGrp="1"/>
          </p:cNvSpPr>
          <p:nvPr/>
        </p:nvSpPr>
        <p:spPr>
          <a:xfrm>
            <a:off x="571500" y="1752600"/>
            <a:ext cx="7143750" cy="647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97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97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AI for PDEs in</a:t>
            </a:r>
          </a:p>
        </p:txBody>
      </p:sp>
      <p:sp>
        <p:nvSpPr>
          <p:cNvPr id="9" name="Talk title line 2">
            <a:extLst>
              <a:ext uri="{FF2B5EF4-FFF2-40B4-BE49-F238E27FC236}">
                <a16:creationId xmlns:a16="http://schemas.microsoft.com/office/drawing/2014/main" id="{A45638FE-6BCA-45A3-A057-D2A6296AC297}"/>
              </a:ext>
            </a:extLst>
          </p:cNvPr>
          <p:cNvSpPr>
            <a:spLocks noGrp="1"/>
          </p:cNvSpPr>
          <p:nvPr/>
        </p:nvSpPr>
        <p:spPr>
          <a:xfrm>
            <a:off x="571500" y="2352675"/>
            <a:ext cx="7381875" cy="647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97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97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Computational Mechanics</a:t>
            </a:r>
          </a:p>
        </p:txBody>
      </p:sp>
      <p:sp>
        <p:nvSpPr>
          <p:cNvPr id="10" name="Forum principle">
            <a:extLst>
              <a:ext uri="{FF2B5EF4-FFF2-40B4-BE49-F238E27FC236}">
                <a16:creationId xmlns:a16="http://schemas.microsoft.com/office/drawing/2014/main" id="{6178596F-265A-4130-8EBC-AFF7D8E40735}"/>
              </a:ext>
            </a:extLst>
          </p:cNvPr>
          <p:cNvSpPr>
            <a:spLocks noGrp="1"/>
          </p:cNvSpPr>
          <p:nvPr/>
        </p:nvSpPr>
        <p:spPr>
          <a:xfrm>
            <a:off x="571500" y="3095625"/>
            <a:ext cx="7048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65E"/>
                </a:solidFill>
                <a:latin typeface="Arial"/>
                <a:ea typeface="Arial"/>
                <a:cs typeface="Arial"/>
              </a:rPr>
              <a:t>Real tech. Real experience.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669FA0-CD10-411A-A6FE-F067EC1B9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01002" y="1571625"/>
            <a:ext cx="3619495" cy="24129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20BF502-D3E9-4BB9-A22D-82EC56714F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000" r="4000"/>
          <a:stretch/>
        </p:blipFill>
        <p:spPr>
          <a:xfrm>
            <a:off x="571500" y="3714750"/>
            <a:ext cx="609600" cy="857250"/>
          </a:xfrm>
          <a:prstGeom prst="rect">
            <a:avLst/>
          </a:prstGeom>
        </p:spPr>
      </p:pic>
      <p:sp>
        <p:nvSpPr>
          <p:cNvPr id="13" name="Speaker role">
            <a:extLst>
              <a:ext uri="{FF2B5EF4-FFF2-40B4-BE49-F238E27FC236}">
                <a16:creationId xmlns:a16="http://schemas.microsoft.com/office/drawing/2014/main" id="{D174954E-78C8-4F03-9B19-62AEE1F0429A}"/>
              </a:ext>
            </a:extLst>
          </p:cNvPr>
          <p:cNvSpPr>
            <a:spLocks noGrp="1"/>
          </p:cNvSpPr>
          <p:nvPr/>
        </p:nvSpPr>
        <p:spPr>
          <a:xfrm>
            <a:off x="1343025" y="3686175"/>
            <a:ext cx="271462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75" b="1">
                <a:solidFill>
                  <a:srgbClr val="9C63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>
                <a:solidFill>
                  <a:srgbClr val="9C63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C634A"/>
                </a:solidFill>
                <a:latin typeface="Arial"/>
                <a:ea typeface="Arial"/>
                <a:cs typeface="Arial"/>
              </a:rPr>
              <a:t>SPEAKER</a:t>
            </a:r>
          </a:p>
        </p:txBody>
      </p:sp>
      <p:sp>
        <p:nvSpPr>
          <p:cNvPr id="14" name="Speaker name">
            <a:extLst>
              <a:ext uri="{FF2B5EF4-FFF2-40B4-BE49-F238E27FC236}">
                <a16:creationId xmlns:a16="http://schemas.microsoft.com/office/drawing/2014/main" id="{3868EA03-18A0-4D68-9537-EE65A962DEB3}"/>
              </a:ext>
            </a:extLst>
          </p:cNvPr>
          <p:cNvSpPr>
            <a:spLocks noGrp="1"/>
          </p:cNvSpPr>
          <p:nvPr/>
        </p:nvSpPr>
        <p:spPr>
          <a:xfrm>
            <a:off x="1343025" y="3905250"/>
            <a:ext cx="27146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Yizheng Wang</a:t>
            </a:r>
          </a:p>
        </p:txBody>
      </p:sp>
      <p:sp>
        <p:nvSpPr>
          <p:cNvPr id="15" name="Speaker affiliation">
            <a:extLst>
              <a:ext uri="{FF2B5EF4-FFF2-40B4-BE49-F238E27FC236}">
                <a16:creationId xmlns:a16="http://schemas.microsoft.com/office/drawing/2014/main" id="{F218A55C-F403-4D6C-B896-3C92A305A410}"/>
              </a:ext>
            </a:extLst>
          </p:cNvPr>
          <p:cNvSpPr>
            <a:spLocks noGrp="1"/>
          </p:cNvSpPr>
          <p:nvPr/>
        </p:nvSpPr>
        <p:spPr>
          <a:xfrm>
            <a:off x="1343025" y="4257675"/>
            <a:ext cx="280987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59665E"/>
                </a:solidFill>
                <a:latin typeface="Arial"/>
                <a:ea typeface="Arial"/>
                <a:cs typeface="Arial"/>
              </a:rPr>
              <a:t>Tsinghua University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8050CD3-717F-4280-8256-8675C62D29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125" b="3125"/>
          <a:stretch>
            <a:fillRect/>
          </a:stretch>
        </p:blipFill>
        <p:spPr>
          <a:xfrm>
            <a:off x="4410075" y="3714750"/>
            <a:ext cx="609600" cy="857250"/>
          </a:xfrm>
          <a:prstGeom prst="rect">
            <a:avLst/>
          </a:prstGeom>
        </p:spPr>
      </p:pic>
      <p:sp>
        <p:nvSpPr>
          <p:cNvPr id="17" name="Host role">
            <a:extLst>
              <a:ext uri="{FF2B5EF4-FFF2-40B4-BE49-F238E27FC236}">
                <a16:creationId xmlns:a16="http://schemas.microsoft.com/office/drawing/2014/main" id="{BF1A0D5F-C7E6-4DB6-A19F-5F521E0162DE}"/>
              </a:ext>
            </a:extLst>
          </p:cNvPr>
          <p:cNvSpPr>
            <a:spLocks noGrp="1"/>
          </p:cNvSpPr>
          <p:nvPr/>
        </p:nvSpPr>
        <p:spPr>
          <a:xfrm>
            <a:off x="5181600" y="3686175"/>
            <a:ext cx="2619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75" b="1">
                <a:solidFill>
                  <a:srgbClr val="9C63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>
                <a:solidFill>
                  <a:srgbClr val="9C63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C634A"/>
                </a:solidFill>
                <a:latin typeface="Arial"/>
                <a:ea typeface="Arial"/>
                <a:cs typeface="Arial"/>
              </a:rPr>
              <a:t>HOST</a:t>
            </a:r>
            <a:endParaRPr sz="975" b="1" dirty="0">
              <a:solidFill>
                <a:srgbClr val="9C63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Host name">
            <a:extLst>
              <a:ext uri="{FF2B5EF4-FFF2-40B4-BE49-F238E27FC236}">
                <a16:creationId xmlns:a16="http://schemas.microsoft.com/office/drawing/2014/main" id="{27DE9CEF-4F43-4E2B-8D16-2AACCE8A82A9}"/>
              </a:ext>
            </a:extLst>
          </p:cNvPr>
          <p:cNvSpPr>
            <a:spLocks noGrp="1"/>
          </p:cNvSpPr>
          <p:nvPr/>
        </p:nvSpPr>
        <p:spPr>
          <a:xfrm>
            <a:off x="5181600" y="3905250"/>
            <a:ext cx="26193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Bin Cao</a:t>
            </a:r>
          </a:p>
        </p:txBody>
      </p:sp>
      <p:sp>
        <p:nvSpPr>
          <p:cNvPr id="19" name="Host affiliation">
            <a:extLst>
              <a:ext uri="{FF2B5EF4-FFF2-40B4-BE49-F238E27FC236}">
                <a16:creationId xmlns:a16="http://schemas.microsoft.com/office/drawing/2014/main" id="{9C74F870-6E9A-434D-B497-FA1D0D044362}"/>
              </a:ext>
            </a:extLst>
          </p:cNvPr>
          <p:cNvSpPr>
            <a:spLocks noGrp="1"/>
          </p:cNvSpPr>
          <p:nvPr/>
        </p:nvSpPr>
        <p:spPr>
          <a:xfrm>
            <a:off x="5181600" y="4257675"/>
            <a:ext cx="2667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5E"/>
                </a:solidFill>
                <a:latin typeface="Arial"/>
                <a:ea typeface="Arial"/>
                <a:cs typeface="Arial"/>
              </a:rPr>
              <a:t>Huawei Noah’s Ark Lab, London</a:t>
            </a:r>
          </a:p>
        </p:txBody>
      </p:sp>
      <p:sp>
        <p:nvSpPr>
          <p:cNvPr id="20" name="Topics divider">
            <a:extLst>
              <a:ext uri="{FF2B5EF4-FFF2-40B4-BE49-F238E27FC236}">
                <a16:creationId xmlns:a16="http://schemas.microsoft.com/office/drawing/2014/main" id="{80E789A2-56EE-42EC-811C-E4124D240D5C}"/>
              </a:ext>
            </a:extLst>
          </p:cNvPr>
          <p:cNvSpPr>
            <a:spLocks noGrp="1"/>
          </p:cNvSpPr>
          <p:nvPr/>
        </p:nvSpPr>
        <p:spPr>
          <a:xfrm>
            <a:off x="571500" y="4791075"/>
            <a:ext cx="7191375" cy="0"/>
          </a:xfrm>
          <a:prstGeom prst="line">
            <a:avLst/>
          </a:prstGeom>
          <a:noFill/>
          <a:ln w="9525">
            <a:solidFill>
              <a:srgbClr val="CDD4CA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21" name="Methods heading">
            <a:extLst>
              <a:ext uri="{FF2B5EF4-FFF2-40B4-BE49-F238E27FC236}">
                <a16:creationId xmlns:a16="http://schemas.microsoft.com/office/drawing/2014/main" id="{4C88CF7F-1416-4944-A191-FF29868B9D83}"/>
              </a:ext>
            </a:extLst>
          </p:cNvPr>
          <p:cNvSpPr>
            <a:spLocks noGrp="1"/>
          </p:cNvSpPr>
          <p:nvPr/>
        </p:nvSpPr>
        <p:spPr>
          <a:xfrm>
            <a:off x="571500" y="5000625"/>
            <a:ext cx="12382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75" b="1">
                <a:solidFill>
                  <a:srgbClr val="9C63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>
                <a:solidFill>
                  <a:srgbClr val="9C63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C634A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22" name="Methods description">
            <a:extLst>
              <a:ext uri="{FF2B5EF4-FFF2-40B4-BE49-F238E27FC236}">
                <a16:creationId xmlns:a16="http://schemas.microsoft.com/office/drawing/2014/main" id="{537E2469-5319-4688-966E-9DBE77F4AE53}"/>
              </a:ext>
            </a:extLst>
          </p:cNvPr>
          <p:cNvSpPr>
            <a:spLocks noGrp="1"/>
          </p:cNvSpPr>
          <p:nvPr/>
        </p:nvSpPr>
        <p:spPr>
          <a:xfrm>
            <a:off x="1714500" y="4943475"/>
            <a:ext cx="60960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3E31"/>
                </a:solidFill>
                <a:latin typeface="Arial"/>
                <a:ea typeface="Arial"/>
                <a:cs typeface="Arial"/>
              </a:rPr>
              <a:t>Physics-driven, data-driven and hybrid approaches</a:t>
            </a:r>
          </a:p>
        </p:txBody>
      </p:sp>
      <p:sp>
        <p:nvSpPr>
          <p:cNvPr id="23" name="Applications heading">
            <a:extLst>
              <a:ext uri="{FF2B5EF4-FFF2-40B4-BE49-F238E27FC236}">
                <a16:creationId xmlns:a16="http://schemas.microsoft.com/office/drawing/2014/main" id="{0B0123A3-5FF2-4032-938D-410EC75BD25E}"/>
              </a:ext>
            </a:extLst>
          </p:cNvPr>
          <p:cNvSpPr>
            <a:spLocks noGrp="1"/>
          </p:cNvSpPr>
          <p:nvPr/>
        </p:nvSpPr>
        <p:spPr>
          <a:xfrm>
            <a:off x="571500" y="5353050"/>
            <a:ext cx="12382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75" b="1">
                <a:solidFill>
                  <a:srgbClr val="9C63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>
                <a:solidFill>
                  <a:srgbClr val="9C63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C634A"/>
                </a:solidFill>
                <a:latin typeface="Arial"/>
                <a:ea typeface="Arial"/>
                <a:cs typeface="Arial"/>
              </a:rPr>
              <a:t>APPLICATIONS</a:t>
            </a:r>
          </a:p>
        </p:txBody>
      </p:sp>
      <p:sp>
        <p:nvSpPr>
          <p:cNvPr id="24" name="Applications description">
            <a:extLst>
              <a:ext uri="{FF2B5EF4-FFF2-40B4-BE49-F238E27FC236}">
                <a16:creationId xmlns:a16="http://schemas.microsoft.com/office/drawing/2014/main" id="{03A70175-3289-4538-8547-3D51468DBDAA}"/>
              </a:ext>
            </a:extLst>
          </p:cNvPr>
          <p:cNvSpPr>
            <a:spLocks noGrp="1"/>
          </p:cNvSpPr>
          <p:nvPr/>
        </p:nvSpPr>
        <p:spPr>
          <a:xfrm>
            <a:off x="1714500" y="5295900"/>
            <a:ext cx="60960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3E31"/>
                </a:solidFill>
                <a:latin typeface="Arial"/>
                <a:ea typeface="Arial"/>
                <a:cs typeface="Arial"/>
              </a:rPr>
              <a:t>Forward and inverse problems in solid mechanics</a:t>
            </a:r>
          </a:p>
        </p:txBody>
      </p:sp>
      <p:sp>
        <p:nvSpPr>
          <p:cNvPr id="25" name="Follow label">
            <a:extLst>
              <a:ext uri="{FF2B5EF4-FFF2-40B4-BE49-F238E27FC236}">
                <a16:creationId xmlns:a16="http://schemas.microsoft.com/office/drawing/2014/main" id="{87D3FAC7-DFC8-4124-8FFB-FD539A308632}"/>
              </a:ext>
            </a:extLst>
          </p:cNvPr>
          <p:cNvSpPr>
            <a:spLocks noGrp="1"/>
          </p:cNvSpPr>
          <p:nvPr/>
        </p:nvSpPr>
        <p:spPr>
          <a:xfrm>
            <a:off x="8096250" y="4257675"/>
            <a:ext cx="17621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Stay connected</a:t>
            </a:r>
          </a:p>
        </p:txBody>
      </p:sp>
      <p:sp>
        <p:nvSpPr>
          <p:cNvPr id="26" name="WeChat name">
            <a:extLst>
              <a:ext uri="{FF2B5EF4-FFF2-40B4-BE49-F238E27FC236}">
                <a16:creationId xmlns:a16="http://schemas.microsoft.com/office/drawing/2014/main" id="{9C5E1779-D888-4CDC-9FD5-8B0DB9BA11B4}"/>
              </a:ext>
            </a:extLst>
          </p:cNvPr>
          <p:cNvSpPr>
            <a:spLocks noGrp="1"/>
          </p:cNvSpPr>
          <p:nvPr/>
        </p:nvSpPr>
        <p:spPr>
          <a:xfrm>
            <a:off x="8096250" y="4581525"/>
            <a:ext cx="17621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SciMindBin</a:t>
            </a:r>
          </a:p>
        </p:txBody>
      </p:sp>
      <p:sp>
        <p:nvSpPr>
          <p:cNvPr id="27" name="WeChat instruction">
            <a:extLst>
              <a:ext uri="{FF2B5EF4-FFF2-40B4-BE49-F238E27FC236}">
                <a16:creationId xmlns:a16="http://schemas.microsoft.com/office/drawing/2014/main" id="{CE021F13-78B1-4144-9DF1-425A4AE9AB3B}"/>
              </a:ext>
            </a:extLst>
          </p:cNvPr>
          <p:cNvSpPr>
            <a:spLocks noGrp="1"/>
          </p:cNvSpPr>
          <p:nvPr/>
        </p:nvSpPr>
        <p:spPr>
          <a:xfrm>
            <a:off x="8096250" y="4905375"/>
            <a:ext cx="176212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5E"/>
                </a:solidFill>
                <a:latin typeface="Arial"/>
                <a:ea typeface="Arial"/>
                <a:cs typeface="Arial"/>
              </a:rPr>
              <a:t>Scan with WeChat</a:t>
            </a:r>
          </a:p>
        </p:txBody>
      </p:sp>
      <p:sp>
        <p:nvSpPr>
          <p:cNvPr id="28" name="Website">
            <a:extLst>
              <a:ext uri="{FF2B5EF4-FFF2-40B4-BE49-F238E27FC236}">
                <a16:creationId xmlns:a16="http://schemas.microsoft.com/office/drawing/2014/main" id="{7F170003-B92B-419A-BE4F-6B5FF739190B}"/>
              </a:ext>
            </a:extLst>
          </p:cNvPr>
          <p:cNvSpPr>
            <a:spLocks noGrp="1"/>
          </p:cNvSpPr>
          <p:nvPr/>
        </p:nvSpPr>
        <p:spPr>
          <a:xfrm>
            <a:off x="8096250" y="5238750"/>
            <a:ext cx="1762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E31"/>
                </a:solidFill>
                <a:latin typeface="Arial"/>
                <a:ea typeface="Arial"/>
                <a:cs typeface="Arial"/>
                <a:hlinkClick r:id="rId7"/>
              </a:rPr>
              <a:t>ai4s.hk.cn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103E8B9-7EAE-48BD-90D3-837D7CB17E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0248900" y="4191000"/>
            <a:ext cx="1371600" cy="1371600"/>
          </a:xfrm>
          <a:prstGeom prst="rect">
            <a:avLst/>
          </a:prstGeom>
        </p:spPr>
      </p:pic>
      <p:sp>
        <p:nvSpPr>
          <p:cNvPr id="30" name="Waiting footer background">
            <a:extLst>
              <a:ext uri="{FF2B5EF4-FFF2-40B4-BE49-F238E27FC236}">
                <a16:creationId xmlns:a16="http://schemas.microsoft.com/office/drawing/2014/main" id="{D216C533-0106-4FA1-99E5-AE46426B05E9}"/>
              </a:ext>
            </a:extLst>
          </p:cNvPr>
          <p:cNvSpPr>
            <a:spLocks noGrp="1"/>
          </p:cNvSpPr>
          <p:nvPr/>
        </p:nvSpPr>
        <p:spPr>
          <a:xfrm>
            <a:off x="0" y="5886450"/>
            <a:ext cx="12192000" cy="971550"/>
          </a:xfrm>
          <a:prstGeom prst="rect">
            <a:avLst/>
          </a:prstGeom>
          <a:solidFill>
            <a:srgbClr val="193E3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31" name="Waiting status">
            <a:extLst>
              <a:ext uri="{FF2B5EF4-FFF2-40B4-BE49-F238E27FC236}">
                <a16:creationId xmlns:a16="http://schemas.microsoft.com/office/drawing/2014/main" id="{8A50ECE7-9923-4CF0-8F6E-FCD5C1973005}"/>
              </a:ext>
            </a:extLst>
          </p:cNvPr>
          <p:cNvSpPr>
            <a:spLocks noGrp="1"/>
          </p:cNvSpPr>
          <p:nvPr/>
        </p:nvSpPr>
        <p:spPr>
          <a:xfrm>
            <a:off x="571500" y="6038850"/>
            <a:ext cx="66675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550" b="1">
                <a:solidFill>
                  <a:srgbClr val="F7F6F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50" b="1">
                <a:solidFill>
                  <a:srgbClr val="F7F6F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6F1"/>
                </a:solidFill>
                <a:latin typeface="Arial"/>
                <a:ea typeface="Arial"/>
                <a:cs typeface="Arial"/>
              </a:rPr>
              <a:t>We’ll begin shortly</a:t>
            </a:r>
          </a:p>
        </p:txBody>
      </p:sp>
      <p:sp>
        <p:nvSpPr>
          <p:cNvPr id="32" name="Microphone reminder">
            <a:extLst>
              <a:ext uri="{FF2B5EF4-FFF2-40B4-BE49-F238E27FC236}">
                <a16:creationId xmlns:a16="http://schemas.microsoft.com/office/drawing/2014/main" id="{70F78991-AF69-428C-83F2-8F56FD5B2EA2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75" b="0">
                <a:solidFill>
                  <a:srgbClr val="D6E0D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D6E0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6E0D6"/>
                </a:solidFill>
                <a:latin typeface="Arial"/>
                <a:ea typeface="Arial"/>
                <a:cs typeface="Arial"/>
              </a:rPr>
              <a:t>Please keep your microphone muted.</a:t>
            </a:r>
          </a:p>
        </p:txBody>
      </p:sp>
      <p:sp>
        <p:nvSpPr>
          <p:cNvPr id="33" name="Live discussion">
            <a:extLst>
              <a:ext uri="{FF2B5EF4-FFF2-40B4-BE49-F238E27FC236}">
                <a16:creationId xmlns:a16="http://schemas.microsoft.com/office/drawing/2014/main" id="{6BEA3590-E1B7-4B9B-974B-9FFF1AFA7CFC}"/>
              </a:ext>
            </a:extLst>
          </p:cNvPr>
          <p:cNvSpPr>
            <a:spLocks noGrp="1"/>
          </p:cNvSpPr>
          <p:nvPr/>
        </p:nvSpPr>
        <p:spPr>
          <a:xfrm>
            <a:off x="8096250" y="6105525"/>
            <a:ext cx="35242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F7F6F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>
                <a:solidFill>
                  <a:srgbClr val="F7F6F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6F1"/>
                </a:solidFill>
                <a:latin typeface="Arial"/>
                <a:ea typeface="Arial"/>
                <a:cs typeface="Arial"/>
              </a:rPr>
              <a:t>Live discussion only</a:t>
            </a:r>
          </a:p>
        </p:txBody>
      </p:sp>
      <p:sp>
        <p:nvSpPr>
          <p:cNvPr id="34" name="Recording policy">
            <a:extLst>
              <a:ext uri="{FF2B5EF4-FFF2-40B4-BE49-F238E27FC236}">
                <a16:creationId xmlns:a16="http://schemas.microsoft.com/office/drawing/2014/main" id="{E59256E7-B222-4437-AA70-55A47BC7E37B}"/>
              </a:ext>
            </a:extLst>
          </p:cNvPr>
          <p:cNvSpPr>
            <a:spLocks noGrp="1"/>
          </p:cNvSpPr>
          <p:nvPr/>
        </p:nvSpPr>
        <p:spPr>
          <a:xfrm>
            <a:off x="8096250" y="6457950"/>
            <a:ext cx="3524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D6E0D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D6E0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6E0D6"/>
                </a:solidFill>
                <a:latin typeface="Arial"/>
                <a:ea typeface="Arial"/>
                <a:cs typeface="Arial"/>
              </a:rPr>
              <a:t>No recordings. No replays.</a:t>
            </a:r>
          </a:p>
        </p:txBody>
      </p:sp>
    </p:spTree>
    <p:extLst>
      <p:ext uri="{BB962C8B-B14F-4D97-AF65-F5344CB8AC3E}">
        <p14:creationId xmlns:p14="http://schemas.microsoft.com/office/powerpoint/2010/main" val="184419417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96</Words>
  <Application>Microsoft Macintosh PowerPoint</Application>
  <DocSecurity>0</DocSecurity>
  <PresentationFormat>Widescreen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曹斌 Bin CAO</cp:lastModifiedBy>
  <cp:revision>3</cp:revision>
  <dcterms:created xsi:type="dcterms:W3CDTF">2026-10-24T05:55:13Z</dcterms:created>
  <dcterms:modified xsi:type="dcterms:W3CDTF">2026-10-24T09:08:25Z</dcterms:modified>
</cp:coreProperties>
</file>